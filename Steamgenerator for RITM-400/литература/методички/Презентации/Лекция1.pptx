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>
        <p:scale>
          <a:sx n="60" d="100"/>
          <a:sy n="60" d="100"/>
        </p:scale>
        <p:origin x="113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19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498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87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41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765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582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006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215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308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22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25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0F926-B1CA-453E-AC1B-EF4D1CDE50DA}" type="datetimeFigureOut">
              <a:rPr lang="ru-RU" smtClean="0"/>
              <a:t>05.02.2024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63BEC-A84E-4A03-B050-FBC90D1C3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769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8588" y="419785"/>
            <a:ext cx="11572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/>
              <a:t>Теплоноситель</a:t>
            </a:r>
            <a:r>
              <a:rPr lang="ru-RU" sz="2000" dirty="0" smtClean="0"/>
              <a:t> — жидкое или газообразное вещество, применяемое для передачи тепловой энергии.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8587" y="1090136"/>
            <a:ext cx="116871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/>
              <a:t>Рабочее тело </a:t>
            </a:r>
            <a:r>
              <a:rPr lang="ru-RU" sz="2000" dirty="0" smtClean="0"/>
              <a:t>— в теплотехнике и термодинамике условное несменяемое материальное тело, расширяющееся при подводе к нему теплоты и сжимающееся при охлаждении и выполняющее работу по перемещению рабочего органа тепловой машины. </a:t>
            </a:r>
            <a:endParaRPr lang="ru-RU" sz="2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33362" y="2149019"/>
            <a:ext cx="1195863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К теплоносителям предъявляют следующие требования:</a:t>
            </a:r>
          </a:p>
          <a:p>
            <a:endParaRPr lang="ru-RU" sz="2000" dirty="0" smtClean="0"/>
          </a:p>
          <a:p>
            <a:r>
              <a:rPr lang="ru-RU" sz="2000" dirty="0" smtClean="0"/>
              <a:t>    Слабое поглощение нейтронов (в тепловых реакторах) либо слабое замедление их (в быстрых реакторах);</a:t>
            </a:r>
          </a:p>
          <a:p>
            <a:r>
              <a:rPr lang="ru-RU" sz="2000" dirty="0" smtClean="0"/>
              <a:t>    Химическая стойкость в условиях интенсивного радиационного облучения;</a:t>
            </a:r>
          </a:p>
          <a:p>
            <a:r>
              <a:rPr lang="ru-RU" sz="2000" dirty="0" smtClean="0"/>
              <a:t>    Низкая коррозионная активность по отношению к конструкционным материалам, с которыми теплоноситель находится в контакте;</a:t>
            </a:r>
          </a:p>
          <a:p>
            <a:r>
              <a:rPr lang="ru-RU" sz="2000" dirty="0" smtClean="0"/>
              <a:t>    Высокий коэффициент теплопередачи;</a:t>
            </a:r>
          </a:p>
          <a:p>
            <a:r>
              <a:rPr lang="ru-RU" sz="2000" dirty="0" smtClean="0"/>
              <a:t>    Большая удельная теплоёмкость;</a:t>
            </a:r>
          </a:p>
          <a:p>
            <a:r>
              <a:rPr lang="ru-RU" sz="2000" dirty="0" smtClean="0"/>
              <a:t>    Низкое рабочее давление при высоких температурах.</a:t>
            </a:r>
          </a:p>
          <a:p>
            <a:endParaRPr lang="ru-RU" sz="2000" dirty="0" smtClean="0"/>
          </a:p>
          <a:p>
            <a:r>
              <a:rPr lang="ru-RU" sz="2000" dirty="0" smtClean="0"/>
              <a:t>В качестве теплоносителя используют воду (обычную и тяжёлую), жидкие металлы, а также газы (например гелий).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4666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99784" y="172522"/>
            <a:ext cx="18081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Лёгкая вода</a:t>
            </a:r>
            <a:endParaRPr lang="ru-R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19032" y="203300"/>
                <a:ext cx="7400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32" y="203300"/>
                <a:ext cx="740011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00050" y="828675"/>
            <a:ext cx="11358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Достоинства                                                                                       Недостатки</a:t>
            </a:r>
            <a:r>
              <a:rPr lang="ru-RU" dirty="0" smtClean="0"/>
              <a:t>       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00050" y="1457325"/>
            <a:ext cx="3757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Распространена</a:t>
            </a:r>
          </a:p>
          <a:p>
            <a:r>
              <a:rPr lang="ru-RU" sz="2000" dirty="0" smtClean="0"/>
              <a:t>Дешева</a:t>
            </a:r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014914" y="1228785"/>
            <a:ext cx="697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Низкая температура кипения (100 С при атмосферном давлении, для повышения температуры кипения требуется повышать давление) 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786313" y="1960305"/>
            <a:ext cx="7405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 Низкая температура критической точки (</a:t>
            </a:r>
            <a:r>
              <a:rPr lang="ru-RU" dirty="0" err="1" smtClean="0"/>
              <a:t>р</a:t>
            </a:r>
            <a:r>
              <a:rPr lang="ru-RU" baseline="-25000" dirty="0" err="1" smtClean="0"/>
              <a:t>кр</a:t>
            </a:r>
            <a:r>
              <a:rPr lang="ru-RU" dirty="0" smtClean="0"/>
              <a:t> =22,136 МПа; </a:t>
            </a:r>
            <a:r>
              <a:rPr lang="en-US" dirty="0" smtClean="0"/>
              <a:t>T</a:t>
            </a:r>
            <a:r>
              <a:rPr lang="ru-RU" baseline="-25000" dirty="0" err="1" smtClean="0"/>
              <a:t>кр</a:t>
            </a:r>
            <a:r>
              <a:rPr lang="ru-RU" dirty="0" smtClean="0"/>
              <a:t> = 374,15 С)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71450" y="3395127"/>
            <a:ext cx="46148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Высокая теплоемкость (выше, чем у жидких металлов и газов)</a:t>
            </a:r>
          </a:p>
          <a:p>
            <a:endParaRPr lang="ru-RU" dirty="0"/>
          </a:p>
          <a:p>
            <a:r>
              <a:rPr lang="ru-RU" dirty="0" smtClean="0"/>
              <a:t>Высокий коэффициент теплоотдачи (особенно при кипении)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71450" y="2383870"/>
            <a:ext cx="4343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Высокое сечение замедления (может выполнять функцию замедлителя для реактора на тепловых нейтронах)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5014914" y="3217605"/>
            <a:ext cx="697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Хороший растворитель (большое количество примесей, требует очистки)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5014914" y="3949125"/>
            <a:ext cx="735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Коррозионно</a:t>
            </a:r>
            <a:r>
              <a:rPr lang="ru-RU" dirty="0" smtClean="0"/>
              <a:t> активна (особенно при наличии примесей) 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014914" y="4489905"/>
            <a:ext cx="630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активной зоне активируется (из-за наличия примесей)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99306" y="4960382"/>
            <a:ext cx="20219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Тяжелая вода</a:t>
            </a:r>
            <a:endParaRPr lang="ru-R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19032" y="4975770"/>
                <a:ext cx="72718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32" y="4975770"/>
                <a:ext cx="727187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079331" y="5167520"/>
            <a:ext cx="3757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 smtClean="0"/>
              <a:t>Малораспространена</a:t>
            </a:r>
            <a:endParaRPr lang="ru-RU" sz="2000" dirty="0" smtClean="0"/>
          </a:p>
          <a:p>
            <a:r>
              <a:rPr lang="ru-RU" sz="2000" dirty="0" smtClean="0"/>
              <a:t>Дорого</a:t>
            </a:r>
            <a:endParaRPr lang="ru-RU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5129213" y="2383870"/>
            <a:ext cx="6386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Высокое сечение поглощения (требует более высокого обогащения по урану-235)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25003" y="5353734"/>
            <a:ext cx="534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Высокое сечение замедления (может выполнять функцию замедлителя для реактора на тепловых нейтронах)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0" y="6253370"/>
            <a:ext cx="6386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Низкое сечение поглощения (почти на природном обогащении по урану-235)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4221955" y="172522"/>
            <a:ext cx="5822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(ВВЭР, </a:t>
            </a:r>
            <a:r>
              <a:rPr lang="en-US" dirty="0" smtClean="0"/>
              <a:t>PWR</a:t>
            </a:r>
            <a:r>
              <a:rPr lang="ru-RU" dirty="0"/>
              <a:t> </a:t>
            </a:r>
            <a:r>
              <a:rPr lang="ru-RU" dirty="0" smtClean="0"/>
              <a:t>на кипящей воде РБМК, </a:t>
            </a:r>
            <a:r>
              <a:rPr lang="en-US" dirty="0" smtClean="0"/>
              <a:t>BWR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657725" y="4975770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(CANDU)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5529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99784" y="172522"/>
            <a:ext cx="11582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Натрий</a:t>
            </a:r>
            <a:endParaRPr lang="ru-RU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919032" y="203300"/>
            <a:ext cx="4039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dirty="0" smtClean="0"/>
              <a:t>Na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00050" y="828675"/>
            <a:ext cx="11358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Достоинства                                                                                       Недостатки</a:t>
            </a:r>
            <a:r>
              <a:rPr lang="ru-RU" dirty="0" smtClean="0"/>
              <a:t>       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71450" y="1444289"/>
            <a:ext cx="48434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Распространен (в чистом виде в природе не встречается, но достаточно в виде солей)</a:t>
            </a:r>
          </a:p>
          <a:p>
            <a:endParaRPr lang="ru-RU" sz="2000" dirty="0" smtClean="0"/>
          </a:p>
          <a:p>
            <a:r>
              <a:rPr lang="ru-RU" sz="2000" dirty="0" smtClean="0"/>
              <a:t>Дешев</a:t>
            </a:r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71450" y="5170053"/>
            <a:ext cx="697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Низкая температура плавления (97 С при атмосферном давлении, требуется начальный подогрев) 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71450" y="3395127"/>
            <a:ext cx="46148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Высокая теплоемкость (ниже, чем у воды)</a:t>
            </a:r>
          </a:p>
          <a:p>
            <a:endParaRPr lang="ru-RU" dirty="0"/>
          </a:p>
          <a:p>
            <a:r>
              <a:rPr lang="ru-RU" dirty="0" smtClean="0"/>
              <a:t>Высокий коэффициент теплоотдачи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71450" y="4501662"/>
            <a:ext cx="4343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Малое сечение замедления (подходит для реактора на быстрых нейтронах)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5014914" y="2263619"/>
            <a:ext cx="697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Химически активен (бурно реагирует с водой и воздухом)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5014913" y="2917962"/>
            <a:ext cx="735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Коррозионно</a:t>
            </a:r>
            <a:r>
              <a:rPr lang="ru-RU" dirty="0" smtClean="0"/>
              <a:t> активен (особенно при наличии окислов) 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007768" y="3751896"/>
            <a:ext cx="630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активной зоне активируется (переходит в 24 изотоп)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5999589"/>
            <a:ext cx="687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Высокая температура кипения (</a:t>
            </a:r>
            <a:r>
              <a:rPr lang="en-GB" dirty="0" smtClean="0"/>
              <a:t>883°C</a:t>
            </a:r>
            <a:r>
              <a:rPr lang="ru-RU" dirty="0" smtClean="0"/>
              <a:t> при атмосферном давлении)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4329113" y="203300"/>
            <a:ext cx="4529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(БН, Феникс и </a:t>
            </a:r>
            <a:r>
              <a:rPr lang="ru-RU" dirty="0" err="1" smtClean="0"/>
              <a:t>Суперфеникс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288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99784" y="172522"/>
            <a:ext cx="11689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Свинец</a:t>
            </a:r>
            <a:endParaRPr lang="ru-RU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258983" y="4992889"/>
            <a:ext cx="88646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dirty="0" err="1" smtClean="0"/>
              <a:t>Pb</a:t>
            </a:r>
            <a:r>
              <a:rPr lang="ru-RU" sz="2800" dirty="0" smtClean="0"/>
              <a:t>-</a:t>
            </a:r>
            <a:r>
              <a:rPr lang="en-US" sz="2800" dirty="0" smtClean="0"/>
              <a:t>Wi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00050" y="828675"/>
            <a:ext cx="11358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Достоинства                                                                                       Недостатки</a:t>
            </a:r>
            <a:r>
              <a:rPr lang="ru-RU" dirty="0" smtClean="0"/>
              <a:t>       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71450" y="1444289"/>
            <a:ext cx="4843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Распространен</a:t>
            </a:r>
          </a:p>
          <a:p>
            <a:r>
              <a:rPr lang="ru-RU" sz="2000" dirty="0" smtClean="0"/>
              <a:t>Дешев</a:t>
            </a:r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014914" y="1413511"/>
            <a:ext cx="697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Высокая температура плавления (327 С при атмосферном давлении, требуется начальный подогрев) 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75611" y="2098476"/>
            <a:ext cx="4614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Относительно высокий коэффициент теплоотдачи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5611" y="3803633"/>
            <a:ext cx="4343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Малое сечение замедления (подходит для реактора на быстрых нейтронах)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75611" y="3379962"/>
            <a:ext cx="697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Химически  неактивен (с водой и воздухом)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5014913" y="2382947"/>
            <a:ext cx="735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Коррозионно</a:t>
            </a:r>
            <a:r>
              <a:rPr lang="ru-RU" dirty="0" smtClean="0"/>
              <a:t> активен (особенно при наличии окислов) 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63392" y="2059782"/>
            <a:ext cx="4731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Высокая температура кипения (1749</a:t>
            </a:r>
            <a:r>
              <a:rPr lang="en-GB" dirty="0" smtClean="0"/>
              <a:t>°C</a:t>
            </a:r>
            <a:r>
              <a:rPr lang="ru-RU" dirty="0" smtClean="0"/>
              <a:t> при атмосферном давлении)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699784" y="4996935"/>
            <a:ext cx="21990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Свинец-висмут</a:t>
            </a:r>
            <a:endParaRPr lang="ru-R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071432" y="355700"/>
            <a:ext cx="37510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dirty="0" err="1" smtClean="0"/>
              <a:t>Pb</a:t>
            </a:r>
            <a:endParaRPr lang="ru-R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75611" y="5672149"/>
            <a:ext cx="4939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Температура плавления 105-110 С (в зависимости от состава)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5007769" y="3035028"/>
            <a:ext cx="612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Низкая теплоемкость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5014913" y="5625982"/>
            <a:ext cx="657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Висмут в активной зоне переходит в полоний (токсичен)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4419010" y="172522"/>
            <a:ext cx="389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Брест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741638" y="4800661"/>
            <a:ext cx="307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СВБР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7173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99784" y="172522"/>
            <a:ext cx="946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Гелий</a:t>
            </a:r>
            <a:endParaRPr lang="ru-RU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00050" y="828675"/>
            <a:ext cx="11358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Достоинства                                                                                       Недостатки</a:t>
            </a:r>
            <a:r>
              <a:rPr lang="ru-RU" dirty="0" smtClean="0"/>
              <a:t>       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71450" y="1444289"/>
            <a:ext cx="4843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Распространен</a:t>
            </a:r>
          </a:p>
          <a:p>
            <a:r>
              <a:rPr lang="ru-RU" sz="2000" dirty="0" smtClean="0"/>
              <a:t>Дешев</a:t>
            </a:r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5610" y="3412694"/>
            <a:ext cx="4614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Низкая температура кипения – при комнатной температуре уже в газообразном состоянии, можно использовать как рабочее тело в газотурбинном цикле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75611" y="2098476"/>
            <a:ext cx="4614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 smtClean="0"/>
          </a:p>
          <a:p>
            <a:r>
              <a:rPr lang="ru-RU" dirty="0" smtClean="0"/>
              <a:t>Химически инертен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3071432" y="355700"/>
            <a:ext cx="402354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dirty="0" smtClean="0"/>
              <a:t>He</a:t>
            </a:r>
            <a:endParaRPr lang="ru-RU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5407819" y="1484864"/>
            <a:ext cx="6129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Низкая теплоемкость (чтобы повысить, требуется повышать давление)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407819" y="2152175"/>
            <a:ext cx="3414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Сверхтекучесть (низкие затраты на прокачку)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171450" y="3043362"/>
            <a:ext cx="3302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Легкий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4457700" y="209668"/>
            <a:ext cx="401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(ВТГР, </a:t>
            </a:r>
            <a:r>
              <a:rPr lang="en-US" dirty="0" smtClean="0"/>
              <a:t>HTGR)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0684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99784" y="172522"/>
            <a:ext cx="22216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Углекислый газ</a:t>
            </a:r>
            <a:endParaRPr lang="ru-RU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00050" y="828675"/>
            <a:ext cx="11358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Достоинства                                                                                       Недостатки</a:t>
            </a:r>
            <a:r>
              <a:rPr lang="ru-RU" dirty="0" smtClean="0"/>
              <a:t>       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71450" y="1444289"/>
            <a:ext cx="4843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Распространен</a:t>
            </a:r>
          </a:p>
          <a:p>
            <a:r>
              <a:rPr lang="ru-RU" sz="2000" dirty="0" smtClean="0"/>
              <a:t>Дешев</a:t>
            </a:r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4537" y="3040840"/>
            <a:ext cx="39796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Низкая температура кипения – при комнатной температуре уже в газообразном состоянии, можно использовать как рабочее тело в газотурбинном цикле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75611" y="2098476"/>
            <a:ext cx="4614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 smtClean="0"/>
          </a:p>
          <a:p>
            <a:r>
              <a:rPr lang="ru-RU" dirty="0" smtClean="0"/>
              <a:t>Химически инертен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54537" y="5480698"/>
            <a:ext cx="697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Химически  неактивен (с водой и воздухом)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3071432" y="355700"/>
            <a:ext cx="54983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2800" dirty="0" smtClean="0"/>
              <a:t>СО</a:t>
            </a:r>
            <a:r>
              <a:rPr lang="ru-RU" sz="2800" baseline="-25000" dirty="0" smtClean="0"/>
              <a:t>2</a:t>
            </a:r>
            <a:endParaRPr lang="ru-RU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4993481" y="1376227"/>
            <a:ext cx="6129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Низкая теплоемкость (для газа высокая, но по сравнению с другими теплоносителями низкая, чтобы повысить, требуется повышать давление)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159433" y="4814767"/>
            <a:ext cx="3302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Для газа тяжелый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690474" y="172522"/>
            <a:ext cx="336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Магноксовые</a:t>
            </a:r>
            <a:r>
              <a:rPr lang="ru-RU" smtClean="0"/>
              <a:t> реакторы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5634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594</Words>
  <Application>Microsoft Office PowerPoint</Application>
  <PresentationFormat>Широкоэкранный</PresentationFormat>
  <Paragraphs>95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Ирина Поздеева</dc:creator>
  <cp:lastModifiedBy>Ирина Поздеева</cp:lastModifiedBy>
  <cp:revision>15</cp:revision>
  <dcterms:created xsi:type="dcterms:W3CDTF">2022-02-14T07:44:32Z</dcterms:created>
  <dcterms:modified xsi:type="dcterms:W3CDTF">2024-02-05T05:19:01Z</dcterms:modified>
</cp:coreProperties>
</file>